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3" r:id="rId5"/>
    <p:sldId id="259" r:id="rId6"/>
    <p:sldId id="268" r:id="rId7"/>
    <p:sldId id="269" r:id="rId8"/>
    <p:sldId id="270" r:id="rId9"/>
    <p:sldId id="261" r:id="rId10"/>
    <p:sldId id="262" r:id="rId11"/>
    <p:sldId id="271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79F1B8D-AAB5-4BF3-A3B5-9BD71B522062}">
          <p14:sldIdLst>
            <p14:sldId id="256"/>
            <p14:sldId id="257"/>
            <p14:sldId id="258"/>
            <p14:sldId id="263"/>
            <p14:sldId id="259"/>
            <p14:sldId id="268"/>
            <p14:sldId id="269"/>
            <p14:sldId id="270"/>
            <p14:sldId id="261"/>
            <p14:sldId id="262"/>
            <p14:sldId id="271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9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5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52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7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2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8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010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6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96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2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02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1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45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336" y="2171699"/>
            <a:ext cx="8522495" cy="1084263"/>
          </a:xfrm>
        </p:spPr>
        <p:txBody>
          <a:bodyPr>
            <a:normAutofit fontScale="90000"/>
          </a:bodyPr>
          <a:lstStyle/>
          <a:p>
            <a:r>
              <a:rPr sz="3200" b="1" dirty="0"/>
              <a:t>End-to-End BI Automation:</a:t>
            </a:r>
          </a:p>
          <a:p>
            <a:r>
              <a:rPr lang="en-IN" sz="3200" b="1" dirty="0"/>
              <a:t>Excel + </a:t>
            </a:r>
            <a:r>
              <a:rPr sz="3200" b="1" dirty="0"/>
              <a:t>SQL + Power BI + Fabric </a:t>
            </a:r>
            <a:r>
              <a:rPr lang="en-IN" sz="3200" b="1" dirty="0"/>
              <a:t>+ </a:t>
            </a:r>
            <a:r>
              <a:rPr sz="3200" b="1" dirty="0"/>
              <a:t>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467" y="4663080"/>
            <a:ext cx="6620968" cy="861420"/>
          </a:xfrm>
        </p:spPr>
        <p:txBody>
          <a:bodyPr>
            <a:normAutofit fontScale="92500" lnSpcReduction="20000"/>
          </a:bodyPr>
          <a:lstStyle/>
          <a:p>
            <a:r>
              <a:rPr sz="32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Saheb Rafique</a:t>
            </a:r>
          </a:p>
          <a:p>
            <a:r>
              <a:rPr dirty="0">
                <a:solidFill>
                  <a:srgbClr val="0099CC"/>
                </a:solidFill>
                <a:latin typeface="Aptos" panose="020B0004020202020204" pitchFamily="34" charset="0"/>
              </a:rPr>
              <a:t>Data Analyst &amp; Business Intelligence Analyst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7AC32-B391-636F-5C4D-FEEC9D76B6BF}"/>
              </a:ext>
            </a:extLst>
          </p:cNvPr>
          <p:cNvSpPr txBox="1"/>
          <p:nvPr/>
        </p:nvSpPr>
        <p:spPr>
          <a:xfrm>
            <a:off x="207169" y="855107"/>
            <a:ext cx="8729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GLOBAL SALES ANALYTICS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85738"/>
            <a:ext cx="7055380" cy="542925"/>
          </a:xfrm>
        </p:spPr>
        <p:txBody>
          <a:bodyPr/>
          <a:lstStyle/>
          <a:p>
            <a:pPr algn="ctr"/>
            <a:r>
              <a:rPr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974" y="971550"/>
            <a:ext cx="8502864" cy="570071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Goal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300" dirty="0"/>
              <a:t>Automate Power BI dashboard updates by connecting MySQL to Microsoft Fabric through an On-Premises Gateway.</a:t>
            </a:r>
            <a:br>
              <a:rPr lang="en-US" sz="2300" dirty="0"/>
            </a:br>
            <a:r>
              <a:rPr lang="en-US" sz="2300" dirty="0"/>
              <a:t>The objective was to create a seamless pipeline where new sales records automatically update all dashboards without manual intervention.</a:t>
            </a:r>
          </a:p>
          <a:p>
            <a:endParaRPr lang="en-US" b="1" dirty="0"/>
          </a:p>
          <a:p>
            <a:r>
              <a:rPr lang="en-US" b="1" dirty="0"/>
              <a:t>Why Automation Was Needed</a:t>
            </a:r>
            <a:endParaRPr lang="en-US" dirty="0"/>
          </a:p>
          <a:p>
            <a:pPr marL="0" indent="0">
              <a:buNone/>
            </a:pPr>
            <a:r>
              <a:rPr lang="en-US" sz="2300" dirty="0"/>
              <a:t>Manual refreshes were slow, repetitive, and error-prone</a:t>
            </a:r>
          </a:p>
          <a:p>
            <a:pPr marL="0" indent="0">
              <a:buNone/>
            </a:pPr>
            <a:r>
              <a:rPr lang="en-US" sz="2300" dirty="0"/>
              <a:t>Dashboards often became outdated before stakeholder reviews</a:t>
            </a:r>
          </a:p>
          <a:p>
            <a:pPr marL="0" indent="0">
              <a:buNone/>
            </a:pPr>
            <a:r>
              <a:rPr lang="en-US" sz="2300" dirty="0"/>
              <a:t>Increased data volume made manual processes unsustainable</a:t>
            </a:r>
          </a:p>
          <a:p>
            <a:pPr marL="0" indent="0">
              <a:buNone/>
            </a:pPr>
            <a:r>
              <a:rPr lang="en-US" sz="2300" dirty="0"/>
              <a:t>Analysts spent more time maintaining reports instead of analyzing insights</a:t>
            </a:r>
          </a:p>
          <a:p>
            <a:pPr marL="0" indent="0">
              <a:buNone/>
            </a:pPr>
            <a:r>
              <a:rPr lang="en-US" sz="2300" b="1" dirty="0"/>
              <a:t>Outcome</a:t>
            </a:r>
          </a:p>
          <a:p>
            <a:pPr marL="0" indent="0">
              <a:buNone/>
            </a:pPr>
            <a:r>
              <a:rPr lang="en-US" sz="2300" dirty="0"/>
              <a:t>Dashboard now </a:t>
            </a:r>
            <a:r>
              <a:rPr lang="en-US" sz="2300" b="1" dirty="0"/>
              <a:t>auto-refreshes</a:t>
            </a:r>
            <a:r>
              <a:rPr lang="en-US" sz="2300" dirty="0"/>
              <a:t> when new countries or records are inserted into MySQL</a:t>
            </a:r>
          </a:p>
          <a:p>
            <a:pPr marL="0" indent="0">
              <a:buNone/>
            </a:pPr>
            <a:r>
              <a:rPr lang="en-US" sz="2300" dirty="0"/>
              <a:t>New regions like </a:t>
            </a:r>
            <a:r>
              <a:rPr lang="en-US" sz="2300" b="1" dirty="0"/>
              <a:t>Saudi Arabia</a:t>
            </a:r>
            <a:r>
              <a:rPr lang="en-US" sz="2300" dirty="0"/>
              <a:t> and </a:t>
            </a:r>
            <a:r>
              <a:rPr lang="en-US" sz="2300" b="1" dirty="0"/>
              <a:t>UAE</a:t>
            </a:r>
            <a:r>
              <a:rPr lang="en-US" sz="2300" dirty="0"/>
              <a:t> appeared instantly after SQL upload</a:t>
            </a:r>
          </a:p>
          <a:p>
            <a:pPr marL="0" indent="0">
              <a:buNone/>
            </a:pPr>
            <a:r>
              <a:rPr lang="en-US" sz="2300" dirty="0"/>
              <a:t>All visuals update automatically, providing real-time insights</a:t>
            </a:r>
          </a:p>
          <a:p>
            <a:pPr marL="0" indent="0">
              <a:buNone/>
            </a:pPr>
            <a:r>
              <a:rPr lang="en-US" sz="2300" dirty="0"/>
              <a:t>The BI workflow is now stable, scalable, and suitable for production environments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2063" y="274320"/>
            <a:ext cx="44598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 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Refresh</a:t>
            </a: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– Dashboard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8DC01-17C3-DA93-77F9-93A2BB77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857251"/>
            <a:ext cx="8596903" cy="5457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2633" y="274320"/>
            <a:ext cx="42787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AFTER 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Refresh</a:t>
            </a:r>
            <a:r>
              <a:rPr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– Dashboard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5A2F3-5546-9DC0-2E73-C04DA11D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" y="837127"/>
            <a:ext cx="8872537" cy="5183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48E65C-3A01-DA22-7F1E-5A2F6A1E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200026"/>
            <a:ext cx="8459265" cy="528637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 and After Refresh  – Country Filter</a:t>
            </a:r>
            <a:b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lang="en-IN" sz="1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BB8ACF9-0DA8-CFA7-CF6D-C266770940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7688" y="1571626"/>
            <a:ext cx="4721376" cy="431482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8C99E89-9089-6283-4FFD-0F2880918E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301" y="1571626"/>
            <a:ext cx="4195373" cy="4314824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EFD958-06A0-B0D4-6DFC-7FF8A214FC5E}"/>
              </a:ext>
            </a:extLst>
          </p:cNvPr>
          <p:cNvSpPr txBox="1"/>
          <p:nvPr/>
        </p:nvSpPr>
        <p:spPr>
          <a:xfrm>
            <a:off x="914399" y="857248"/>
            <a:ext cx="208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6BCD3-6DFA-47D8-7011-6C7E8B5CB0DB}"/>
              </a:ext>
            </a:extLst>
          </p:cNvPr>
          <p:cNvSpPr txBox="1"/>
          <p:nvPr/>
        </p:nvSpPr>
        <p:spPr>
          <a:xfrm>
            <a:off x="5057774" y="850344"/>
            <a:ext cx="317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After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B20B-D2EE-34D6-E4FD-A6FDAE89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F10532-A7CD-75FB-3744-7822CC0B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200026"/>
            <a:ext cx="8459265" cy="528637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 and After Refresh  – Customer Insights</a:t>
            </a:r>
            <a:b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lang="en-IN" sz="1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C69EB5-B354-F130-632B-DD71BBABEE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357688" y="1571626"/>
            <a:ext cx="4721376" cy="431482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863F059-01FB-04D4-8B1A-BCB21DD786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62301" y="1571626"/>
            <a:ext cx="4195373" cy="4314824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5BD3D7-4ED9-5156-1F27-7FDA96A1736B}"/>
              </a:ext>
            </a:extLst>
          </p:cNvPr>
          <p:cNvSpPr txBox="1"/>
          <p:nvPr/>
        </p:nvSpPr>
        <p:spPr>
          <a:xfrm>
            <a:off x="914399" y="857248"/>
            <a:ext cx="208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1A406-6788-1648-92B3-8A6D69293EE6}"/>
              </a:ext>
            </a:extLst>
          </p:cNvPr>
          <p:cNvSpPr txBox="1"/>
          <p:nvPr/>
        </p:nvSpPr>
        <p:spPr>
          <a:xfrm>
            <a:off x="5057774" y="850344"/>
            <a:ext cx="317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004629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2A33-7A01-73A1-15B6-D1119F54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4DDB21-D259-2371-1F9B-02024A24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9" y="200026"/>
            <a:ext cx="8386761" cy="528637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 and After Refresh  – Product and Store Performance</a:t>
            </a:r>
            <a:b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lang="en-IN" sz="1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BDACABB-9D1F-589F-27D1-0F0AC873B3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443413" y="1571626"/>
            <a:ext cx="4635651" cy="431482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47C8A7F-7F95-B75C-5AE8-1DB6830E30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62301" y="1571626"/>
            <a:ext cx="4195373" cy="4314824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6E132A-C944-1523-1841-D4295D8A881D}"/>
              </a:ext>
            </a:extLst>
          </p:cNvPr>
          <p:cNvSpPr txBox="1"/>
          <p:nvPr/>
        </p:nvSpPr>
        <p:spPr>
          <a:xfrm>
            <a:off x="914399" y="857248"/>
            <a:ext cx="208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8CFB9B-ABF0-97A1-350E-0B166845CBA0}"/>
              </a:ext>
            </a:extLst>
          </p:cNvPr>
          <p:cNvSpPr txBox="1"/>
          <p:nvPr/>
        </p:nvSpPr>
        <p:spPr>
          <a:xfrm>
            <a:off x="5057774" y="850344"/>
            <a:ext cx="317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684744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7BDC-6947-6A22-9010-E1EBB351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5CACC3-74CF-0CEB-8B70-24112265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9" y="200026"/>
            <a:ext cx="8386761" cy="528637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 and After Refresh  – Time Trends</a:t>
            </a:r>
            <a:b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lang="en-IN" sz="1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4C4D16-7D15-6F11-3D19-CE51B59C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443413" y="1571626"/>
            <a:ext cx="4635651" cy="431482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3EF80F5-AB41-1945-7631-72F4E891D1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62301" y="1571626"/>
            <a:ext cx="4195373" cy="4314824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A324AF-6D41-474A-D11C-809525783C67}"/>
              </a:ext>
            </a:extLst>
          </p:cNvPr>
          <p:cNvSpPr txBox="1"/>
          <p:nvPr/>
        </p:nvSpPr>
        <p:spPr>
          <a:xfrm>
            <a:off x="914399" y="857248"/>
            <a:ext cx="208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Before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480421-04E2-11C7-1225-40CF09E7ACE3}"/>
              </a:ext>
            </a:extLst>
          </p:cNvPr>
          <p:cNvSpPr txBox="1"/>
          <p:nvPr/>
        </p:nvSpPr>
        <p:spPr>
          <a:xfrm>
            <a:off x="5057774" y="850344"/>
            <a:ext cx="317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14250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461682"/>
          </a:xfrm>
        </p:spPr>
        <p:txBody>
          <a:bodyPr/>
          <a:lstStyle/>
          <a:p>
            <a:pPr algn="ctr"/>
            <a:r>
              <a:rPr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SQL &amp; Data Update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914400"/>
            <a:ext cx="7054644" cy="2014538"/>
          </a:xfrm>
        </p:spPr>
        <p:txBody>
          <a:bodyPr/>
          <a:lstStyle/>
          <a:p>
            <a:r>
              <a:rPr dirty="0"/>
              <a:t>• Inserted Saudi Arabia &amp; UAE records into MySQL master table.</a:t>
            </a:r>
          </a:p>
          <a:p>
            <a:r>
              <a:rPr dirty="0"/>
              <a:t>• Updated Profit &amp; Total Amount calculations.</a:t>
            </a:r>
          </a:p>
          <a:p>
            <a:r>
              <a:rPr dirty="0"/>
              <a:t>• Ensured consistent schema and formatting for Power BI ingestion.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54813-CCB2-A072-5ED7-5D5DF8818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4" y="3086100"/>
            <a:ext cx="6329362" cy="3574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Fabric </a:t>
            </a:r>
            <a:r>
              <a:rPr lang="en-IN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- </a:t>
            </a:r>
            <a:r>
              <a:rPr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Gateway Automation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D9925A-0633-DF84-88E9-2EA0BD11A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390164"/>
            <a:ext cx="8658225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connected Microsoft Fabric to the MySQL database using the On-Premises Data Gateway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secure, real-time access to local data from the cloud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Configured, mapped, and validated the semantic model connection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Power BI/Fabric could correctly read and query the updated MySQL tables.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a scheduled refresh cycle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the dashboard automatically updates on a daily basis without manual intervention, ensuring stakeholders always see the latest sales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a manual on-demand refresh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confirm the gateway connection, refresh pipeline, and semantic model were functioning correctly before full automation.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8CB7-7A61-E543-6248-ADCAE838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257176"/>
            <a:ext cx="7055380" cy="352418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Why We Used Gateway Instead of Direct-Query in Power BI</a:t>
            </a:r>
            <a:endParaRPr lang="en-IN" sz="18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01DEB-9149-3D1A-CFBA-71E74F0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3" y="1042988"/>
            <a:ext cx="8815387" cy="555783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MySQL does not support Direct-Query natively in Power BI Service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Power BI Desktop can connect to MySQL,</a:t>
            </a:r>
            <a:br>
              <a:rPr lang="en-US" sz="2300" dirty="0"/>
            </a:br>
            <a:r>
              <a:rPr lang="en-US" sz="2300" b="1" dirty="0"/>
              <a:t>but Direct-Query mode is not supported for refresh in Power BI Service</a:t>
            </a:r>
            <a:r>
              <a:rPr lang="en-US" sz="23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Without Direct-Query, publishing the report would not allow real-time queries.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b="1" dirty="0"/>
              <a:t>🔹 To enable automatic updates, we used the On-Premises Data Gateway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The Gateway securely connects Power BI Service with the </a:t>
            </a:r>
            <a:r>
              <a:rPr lang="en-US" sz="2300" b="1" dirty="0"/>
              <a:t>local MySQL Server</a:t>
            </a:r>
            <a:r>
              <a:rPr lang="en-US" sz="23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It allows Power BI to refresh the dataset on a schedule or manually.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No need to republish the PBIX file every time the database changes.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b="1" dirty="0"/>
              <a:t>🔹 Gateway enables enterprise-grade data refresh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Supports encrypted credential storage.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Automatically refreshes the semantic model from MySQL.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Ensures the dashboard always reflects the latest sales records.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b="1" dirty="0"/>
              <a:t>🔹 </a:t>
            </a:r>
            <a:r>
              <a:rPr lang="en-US" sz="2300" b="1" dirty="0">
                <a:solidFill>
                  <a:srgbClr val="FF0000"/>
                </a:solidFill>
                <a:latin typeface="Arial Black" panose="020B0A04020102020204" pitchFamily="34" charset="0"/>
              </a:rPr>
              <a:t>Result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/>
              <a:t>After adding Saudi Arabia &amp; UAE data to MySQL,</a:t>
            </a:r>
            <a:br>
              <a:rPr lang="en-US" sz="2300" dirty="0"/>
            </a:br>
            <a:r>
              <a:rPr lang="en-US" sz="2300" dirty="0"/>
              <a:t>the </a:t>
            </a:r>
            <a:r>
              <a:rPr lang="en-US" sz="2300" b="1" dirty="0"/>
              <a:t>Power BI dashboard updated automatically after Gateway refresh</a:t>
            </a:r>
            <a:br>
              <a:rPr lang="en-US" sz="2300" dirty="0"/>
            </a:br>
            <a:r>
              <a:rPr lang="en-US" sz="2300" dirty="0"/>
              <a:t>— demonstrating successful automation.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516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updated instantly with new regions.</a:t>
            </a:r>
          </a:p>
          <a:p>
            <a:r>
              <a:t>• Fully automated BI workflow achieved.</a:t>
            </a:r>
          </a:p>
          <a:p>
            <a:r>
              <a:t>• No manual imports needed.</a:t>
            </a:r>
          </a:p>
          <a:p>
            <a:r>
              <a:t>• Scalable for future countries and datasets.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2052926"/>
            <a:ext cx="8572499" cy="2561938"/>
          </a:xfrm>
        </p:spPr>
        <p:txBody>
          <a:bodyPr/>
          <a:lstStyle/>
          <a:p>
            <a:r>
              <a:rPr dirty="0"/>
              <a:t>This project demonstrates a complete Data </a:t>
            </a:r>
            <a:r>
              <a:rPr lang="en-IN" dirty="0"/>
              <a:t>Analytics</a:t>
            </a:r>
            <a:r>
              <a:rPr dirty="0"/>
              <a:t> + BI pipeline:</a:t>
            </a:r>
          </a:p>
          <a:p>
            <a:r>
              <a:rPr lang="en-IN" dirty="0"/>
              <a:t>Excel → </a:t>
            </a:r>
            <a:r>
              <a:rPr dirty="0"/>
              <a:t>SQL → Transformation → Fabric Gateway → Power BI Automation.</a:t>
            </a:r>
          </a:p>
          <a:p>
            <a:r>
              <a:rPr dirty="0"/>
              <a:t>A strong showcase of automation, modeling, and professional dashboard development.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86</TotalTime>
  <Words>579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Arial Rounded MT Bold</vt:lpstr>
      <vt:lpstr>Century Gothic</vt:lpstr>
      <vt:lpstr>Wingdings 3</vt:lpstr>
      <vt:lpstr>Ion</vt:lpstr>
      <vt:lpstr>End-to-End BI Automation: Excel + SQL + Power BI + Fabric + Gateway</vt:lpstr>
      <vt:lpstr>Project Summary</vt:lpstr>
      <vt:lpstr>PowerPoint Presentation</vt:lpstr>
      <vt:lpstr>PowerPoint Presentation</vt:lpstr>
      <vt:lpstr>Before and After Refresh  – Country Filter </vt:lpstr>
      <vt:lpstr>Before and After Refresh  – Customer Insights </vt:lpstr>
      <vt:lpstr>Before and After Refresh  – Product and Store Performance </vt:lpstr>
      <vt:lpstr>Before and After Refresh  – Time Trends </vt:lpstr>
      <vt:lpstr>SQL &amp; Data Update Process</vt:lpstr>
      <vt:lpstr>Fabric - Gateway Automation</vt:lpstr>
      <vt:lpstr>Why We Used Gateway Instead of Direct-Query in Power BI</vt:lpstr>
      <vt:lpstr>Key Outcomes</vt:lpstr>
      <vt:lpstr>Final Remarks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SAFAK RAFIQUE</dc:creator>
  <cp:keywords/>
  <dc:description>generated using python-pptx</dc:description>
  <cp:lastModifiedBy>SAFAK RAFIQUE</cp:lastModifiedBy>
  <cp:revision>4</cp:revision>
  <dcterms:created xsi:type="dcterms:W3CDTF">2013-01-27T09:14:16Z</dcterms:created>
  <dcterms:modified xsi:type="dcterms:W3CDTF">2025-12-06T15:40:41Z</dcterms:modified>
  <cp:category/>
</cp:coreProperties>
</file>